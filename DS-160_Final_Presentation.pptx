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5" r:id="rId9"/>
    <p:sldId id="263" r:id="rId10"/>
    <p:sldId id="264" r:id="rId11"/>
    <p:sldId id="265" r:id="rId12"/>
    <p:sldId id="266" r:id="rId13"/>
    <p:sldId id="268" r:id="rId14"/>
    <p:sldId id="269" r:id="rId15"/>
    <p:sldId id="272" r:id="rId16"/>
    <p:sldId id="271" r:id="rId17"/>
    <p:sldId id="273" r:id="rId1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642"/>
    <p:restoredTop sz="94710"/>
  </p:normalViewPr>
  <p:slideViewPr>
    <p:cSldViewPr snapToGrid="0" snapToObjects="1">
      <p:cViewPr>
        <p:scale>
          <a:sx n="110" d="100"/>
          <a:sy n="110" d="100"/>
        </p:scale>
        <p:origin x="1712" y="9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45E6182-D8A1-9B4A-AE73-FAB60BB132B9}" type="datetimeFigureOut">
              <a:rPr lang="en-US" smtClean="0"/>
              <a:t>4/28/25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2B2F030-B0B0-DD41-8FB9-FDACEA45C96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195511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570" y="1122363"/>
            <a:ext cx="7315199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3602038"/>
            <a:ext cx="7315199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F8DA73-0D27-EE4D-9F12-27210E3368AC}" type="datetime1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BA1B-DDA8-3F42-87AD-7D1A6372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0306E680-6A26-9C48-87BF-4368862B9A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553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7391D-D800-AF4B-9BCC-050FD0BF5526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383570" y="1122363"/>
            <a:ext cx="7315199" cy="2387600"/>
          </a:xfrm>
        </p:spPr>
        <p:txBody>
          <a:bodyPr anchor="b"/>
          <a:lstStyle>
            <a:lvl1pPr algn="ctr">
              <a:defRPr sz="45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22B2A6F-6709-514E-BFC6-9A4A7329A1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3570" y="3602038"/>
            <a:ext cx="7315199" cy="1655762"/>
          </a:xfrm>
        </p:spPr>
        <p:txBody>
          <a:bodyPr/>
          <a:lstStyle>
            <a:lvl1pPr marL="0" indent="0" algn="ctr">
              <a:buNone/>
              <a:defRPr sz="1800">
                <a:solidFill>
                  <a:schemeClr val="bg1"/>
                </a:solidFill>
              </a:defRPr>
            </a:lvl1pPr>
            <a:lvl2pPr marL="342892" indent="0" algn="ctr">
              <a:buNone/>
              <a:defRPr sz="1500"/>
            </a:lvl2pPr>
            <a:lvl3pPr marL="685783" indent="0" algn="ctr">
              <a:buNone/>
              <a:defRPr sz="1350"/>
            </a:lvl3pPr>
            <a:lvl4pPr marL="1028675" indent="0" algn="ctr">
              <a:buNone/>
              <a:defRPr sz="1200"/>
            </a:lvl4pPr>
            <a:lvl5pPr marL="1371566" indent="0" algn="ctr">
              <a:buNone/>
              <a:defRPr sz="1200"/>
            </a:lvl5pPr>
            <a:lvl6pPr marL="1714457" indent="0" algn="ctr">
              <a:buNone/>
              <a:defRPr sz="1200"/>
            </a:lvl6pPr>
            <a:lvl7pPr marL="2057348" indent="0" algn="ctr">
              <a:buNone/>
              <a:defRPr sz="1200"/>
            </a:lvl7pPr>
            <a:lvl8pPr marL="2400240" indent="0" algn="ctr">
              <a:buNone/>
              <a:defRPr sz="1200"/>
            </a:lvl8pPr>
            <a:lvl9pPr marL="2743132" indent="0" algn="ctr">
              <a:buNone/>
              <a:defRPr sz="12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62D3AD-8629-3943-936D-B62EEF2E92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31A6E6-60CE-9349-B9B5-2292E06D989A}" type="datetime1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6F098A-A3EE-384E-8702-C337467654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68BA1B-DDA8-3F42-87AD-7D1A63721A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6955C273-3410-C447-B8B7-5FDFF0F32A4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9845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E5C75-2456-E24C-A74E-E3F68183E4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05908F-63CC-1B4E-947D-0F73547617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1D3A58-FFD8-4940-A7F0-8B2B57C9A1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F53DBD-F128-5A4D-B453-54AD96B9B5B8}" type="datetime1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0CE6D3E-6D5E-D349-938B-E0B3301AFF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AB6C36-FD1B-BE4B-974D-B33D0A7B6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29699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DBCD9A-4C4D-C04D-B628-4D6821CF991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1" y="1709742"/>
            <a:ext cx="10515600" cy="2852737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 dirty="0"/>
              <a:t>Click to edit </a:t>
            </a:r>
            <a:br>
              <a:rPr lang="en-US" dirty="0"/>
            </a:br>
            <a:r>
              <a:rPr lang="en-US" dirty="0"/>
              <a:t>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76D619-9256-5342-BA68-AA592831FA0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1" y="4589467"/>
            <a:ext cx="105156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892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1652CD-DA0F-E044-884E-A857BA135C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552B0-CB0F-184B-A453-81753D0C38A8}" type="datetime1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41647-D227-6B41-9AD6-182E7AE90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4B12F90-7608-D14B-BE6C-B6E7C3BFEC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 descr="Logo&#10;&#10;Description automatically generated">
            <a:extLst>
              <a:ext uri="{FF2B5EF4-FFF2-40B4-BE49-F238E27FC236}">
                <a16:creationId xmlns:a16="http://schemas.microsoft.com/office/drawing/2014/main" id="{B1F2DD4F-54D8-DF4E-89F0-75242AE735F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t="7289" r="41429" b="18385"/>
          <a:stretch/>
        </p:blipFill>
        <p:spPr>
          <a:xfrm>
            <a:off x="8272412" y="-1"/>
            <a:ext cx="3919588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54437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0955F1-41C9-F741-ABCA-148F72FF7C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58B0D0-CB2A-5B49-AFAE-C401DC85D44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3CFA190-6116-CE4E-880A-2A5FD5E9FA2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46A325-B878-6048-96EA-AD37D9146E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F462E5-4172-194C-97CC-92BD6BFAF1BF}" type="datetime1">
              <a:rPr lang="en-US" smtClean="0"/>
              <a:t>4/28/25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8794E63-81BD-D34E-9FB6-590D87A2C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3D2F3FA-6596-F141-A53F-FDEC5D0FDE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08755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786C4-8A82-2E47-BA0A-3B4FD275E2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9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DDAD30-26CB-894D-B249-16631B50FF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54E37DF-FCA3-9345-8F1B-3B2DEECC38B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C2A7F32-108C-0147-BF1C-151D185797D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25A79B9-C154-E741-8BC5-8B95F0D2514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C3A23CC-9985-5B43-B4F5-7A65FBBBB3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BD0E6D-8E15-3A45-AAAD-83DC0C869473}" type="datetime1">
              <a:rPr lang="en-US" smtClean="0"/>
              <a:t>4/28/25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5A89551-72F1-6A40-B02D-98C9990F18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33ACEE8-777A-5940-9519-1D826BCADD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64173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960DEB-C558-DB4D-9DBB-60DA77C03D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7DA75B9-E07E-614C-9F6C-7943A325F6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A52CF66-B84B-7D47-B6CB-56C2E65B75A5}" type="datetime1">
              <a:rPr lang="en-US" smtClean="0"/>
              <a:t>4/28/25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876482A-9624-104B-AFF8-5DE40120AF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BB9DE2-8332-1E4D-806B-6DDB78385E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84385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E510AD24-3C30-D545-822F-3EF5F7FE4D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977E39-9F69-F84F-B087-8355A0C36A1C}" type="datetime1">
              <a:rPr lang="en-US" smtClean="0"/>
              <a:t>4/28/25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31DBBA-BE87-D441-B84D-D8F2DAF194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382A5FB-A616-8D45-9939-E7B334615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21194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ADA5-6E94-DB46-948A-CE55B2255B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4303E3-1AEE-0E46-A78B-8B0925632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3F0A59D-5684-1941-8033-29499AF5C6B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CF289D9-B751-654C-8849-B701A522D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9FD244-5629-0048-B1BC-21F5CCE28275}" type="datetime1">
              <a:rPr lang="en-US" smtClean="0"/>
              <a:t>4/28/25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38A2888-A517-7A40-9678-F86659CA1C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6386589-428D-8542-B91B-AA693B17C4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37073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83A8F6-F979-A948-9E97-51A384265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CDC9482-4942-9A42-9B6B-9A6D0C3F57D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9"/>
            <a:ext cx="6172200" cy="4873625"/>
          </a:xfrm>
        </p:spPr>
        <p:txBody>
          <a:bodyPr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1ABD93E-E334-794F-AAA4-ED2738BD9FF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892" indent="0">
              <a:buNone/>
              <a:defRPr sz="1050"/>
            </a:lvl2pPr>
            <a:lvl3pPr marL="685783" indent="0">
              <a:buNone/>
              <a:defRPr sz="900"/>
            </a:lvl3pPr>
            <a:lvl4pPr marL="1028675" indent="0">
              <a:buNone/>
              <a:defRPr sz="750"/>
            </a:lvl4pPr>
            <a:lvl5pPr marL="1371566" indent="0">
              <a:buNone/>
              <a:defRPr sz="750"/>
            </a:lvl5pPr>
            <a:lvl6pPr marL="1714457" indent="0">
              <a:buNone/>
              <a:defRPr sz="750"/>
            </a:lvl6pPr>
            <a:lvl7pPr marL="2057348" indent="0">
              <a:buNone/>
              <a:defRPr sz="750"/>
            </a:lvl7pPr>
            <a:lvl8pPr marL="2400240" indent="0">
              <a:buNone/>
              <a:defRPr sz="750"/>
            </a:lvl8pPr>
            <a:lvl9pPr marL="2743132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FF2F737-FC71-3D41-A122-65FFC91867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468F28-43D4-EE44-BE19-042DF4CE75A9}" type="datetime1">
              <a:rPr lang="en-US" smtClean="0"/>
              <a:t>4/28/25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9A97691-9973-4B46-AE83-6A5F333C7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0899189-E24D-B94A-A884-A8AF80D2CB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2483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A739EF-4096-1A49-9AD4-0655F121AD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1E2AF70-1E65-534B-9153-913A0A9E459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CECE82-C65F-6B43-ABA4-3EB664450E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4453910-FFC6-0346-9A85-0895544F5B1E}" type="datetime1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C09C77-D8D0-FB43-910C-1F49030654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521FDC7-F78C-EE40-982D-9189AE7D30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102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4CDA1A7-5913-1444-B7D0-0B55BA2D780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2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F705413-85D9-A548-83D7-268A900CCCD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2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3033B9-EFDB-514F-8EDA-0D81C8C459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A092B63-46F8-F741-AC3D-00CBCEE7BF50}" type="datetime1">
              <a:rPr lang="en-US" smtClean="0"/>
              <a:t>4/28/25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4CC90F-E680-5346-AB4F-9742715769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3E2FA6-882C-6645-8A51-A07C0F719F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65428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969A89C3-E6FA-684D-8BAE-1760B34F554E}"/>
              </a:ext>
            </a:extLst>
          </p:cNvPr>
          <p:cNvSpPr/>
          <p:nvPr userDrawn="1"/>
        </p:nvSpPr>
        <p:spPr>
          <a:xfrm>
            <a:off x="0" y="6356350"/>
            <a:ext cx="12192000" cy="50165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35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871C330-0F02-8249-82EC-9F3A278C0A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653E27E-2040-824D-B637-1C07F3E0626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D629B-BAF4-A343-8BF1-1572AB38034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428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bg1"/>
                </a:solidFill>
              </a:defRPr>
            </a:lvl1pPr>
          </a:lstStyle>
          <a:p>
            <a:fld id="{EA7CF3D1-F6A2-C244-BA9D-6CE02EBE8B38}" type="datetime1">
              <a:rPr lang="en-US" smtClean="0"/>
              <a:t>4/28/25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861F82B-A72E-B848-BB19-0207CDE46B4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428272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1620FE-B066-7C49-9BDF-AF56CC193D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428272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bg1"/>
                </a:solidFill>
              </a:defRPr>
            </a:lvl1pPr>
          </a:lstStyle>
          <a:p>
            <a:fld id="{09B8F8C4-05A7-DC4E-8BB7-4202EC4ACBF7}" type="slidenum">
              <a:rPr lang="en-US" smtClean="0"/>
              <a:pPr/>
              <a:t>‹#›</a:t>
            </a:fld>
            <a:endParaRPr lang="en-US"/>
          </a:p>
        </p:txBody>
      </p:sp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A6F54A4B-B617-B54F-B600-5EFC28C265A6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1056147" y="185741"/>
            <a:ext cx="961397" cy="13255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8773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hdr="0" ftr="0" dt="0"/>
  <p:txStyles>
    <p:titleStyle>
      <a:lvl1pPr algn="l" defTabSz="685783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171446" indent="-171446" algn="l" defTabSz="685783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51433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857228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200120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1543012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1885903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5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5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830DA4-D291-4B42-B1AF-848E941EB3B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BMI &amp; Heart Disease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997951D-6AED-F64B-AB8D-89218E91D0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DS-160</a:t>
            </a:r>
          </a:p>
          <a:p>
            <a:r>
              <a:rPr lang="en-US" dirty="0"/>
              <a:t>William Muckler</a:t>
            </a:r>
          </a:p>
        </p:txBody>
      </p:sp>
    </p:spTree>
    <p:extLst>
      <p:ext uri="{BB962C8B-B14F-4D97-AF65-F5344CB8AC3E}">
        <p14:creationId xmlns:p14="http://schemas.microsoft.com/office/powerpoint/2010/main" val="12720977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D0367E-DF85-5B48-ABDA-7F8FDCCF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1241B7-01DA-6A42-8344-CD74340996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7338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Body Mass Index (BMI)</a:t>
            </a:r>
          </a:p>
          <a:p>
            <a:r>
              <a:rPr lang="en-US" dirty="0"/>
              <a:t>A measure of body composition based on the height and weight of adults.</a:t>
            </a:r>
          </a:p>
          <a:p>
            <a:r>
              <a:rPr lang="en-US" dirty="0"/>
              <a:t>Can use your number to help predict overall health or the likelihood of various diseases. 	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F005DE-8BAC-65C6-8683-9CE61E80D6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2</a:t>
            </a:fld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2A861DB4-3174-B35C-0625-FD4200263877}"/>
              </a:ext>
            </a:extLst>
          </p:cNvPr>
          <p:cNvSpPr txBox="1">
            <a:spLocks/>
          </p:cNvSpPr>
          <p:nvPr/>
        </p:nvSpPr>
        <p:spPr>
          <a:xfrm>
            <a:off x="6413938" y="1825625"/>
            <a:ext cx="37338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1" dirty="0"/>
              <a:t>Heart Disease</a:t>
            </a:r>
          </a:p>
          <a:p>
            <a:r>
              <a:rPr lang="en-US" dirty="0"/>
              <a:t>Encompasses a variety of conditions that affect the heart and blood vessels. </a:t>
            </a:r>
          </a:p>
          <a:p>
            <a:r>
              <a:rPr lang="en-US" dirty="0"/>
              <a:t>The leading cause of death in the United States. </a:t>
            </a:r>
          </a:p>
          <a:p>
            <a:r>
              <a:rPr lang="en-US" dirty="0"/>
              <a:t>702,880 deaths in 2022.</a:t>
            </a:r>
          </a:p>
          <a:p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Font typeface="Arial" panose="020B0604020202020204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4212650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B8AC85-61CF-88DD-4BA2-DB8C2223F3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Research Questions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943F9-54FD-7A08-D714-CFEB9517DC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Can we create a model to predict BMI? What are the largest indicators of this measure?</a:t>
            </a:r>
          </a:p>
          <a:p>
            <a:pPr marL="0" indent="0" algn="ctr">
              <a:buNone/>
            </a:pPr>
            <a:endParaRPr lang="en-US" sz="2800" dirty="0"/>
          </a:p>
          <a:p>
            <a:pPr marL="0" indent="0" algn="ctr">
              <a:buNone/>
            </a:pPr>
            <a:r>
              <a:rPr lang="en-US" sz="2800" dirty="0"/>
              <a:t>Can we predict whether a person has heart disease using the variables given in our dataset?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5A7319C-9DBA-7D23-7A4C-35D79BF83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849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8225B-BADA-D6AB-40D9-E48483842D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About the Dataset: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2894CFF-697B-4E85-CCA9-F0CE948460E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health_activity_data.csv</a:t>
            </a:r>
            <a:r>
              <a:rPr lang="en-US" dirty="0"/>
              <a:t> from Kaggle</a:t>
            </a:r>
          </a:p>
          <a:p>
            <a:r>
              <a:rPr lang="en-US" dirty="0"/>
              <a:t>16 columns: 11 numeric and 5 categorical</a:t>
            </a:r>
          </a:p>
          <a:p>
            <a:r>
              <a:rPr lang="en-US" dirty="0"/>
              <a:t>Numeric Variables: ID #, Age, Height (</a:t>
            </a:r>
            <a:r>
              <a:rPr lang="en-US" dirty="0" err="1"/>
              <a:t>cms</a:t>
            </a:r>
            <a:r>
              <a:rPr lang="en-US" dirty="0"/>
              <a:t>), Weight (kgs), BMI, Daily Steps, Caloric Intake, Hours of Sleep, Heart Rate, Weekly Hours of Exercise, and Weekly Alcohol Consumption.</a:t>
            </a:r>
          </a:p>
          <a:p>
            <a:r>
              <a:rPr lang="en-US" dirty="0"/>
              <a:t>Categorical Variables: Gender, Smoker, Diabetic, Heart Disease,  and Blood Pressure</a:t>
            </a:r>
          </a:p>
          <a:p>
            <a:r>
              <a:rPr lang="en-US" dirty="0"/>
              <a:t>1,000 total rows of data</a:t>
            </a:r>
          </a:p>
          <a:p>
            <a:r>
              <a:rPr lang="en-US" dirty="0"/>
              <a:t>Complete dataset, no missing values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C149554-2FB4-16D1-B84E-4E1319866A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274228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46AE44-E9D8-F45B-E04E-E27E52AB61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 anchor="ctr">
            <a:normAutofit/>
          </a:bodyPr>
          <a:lstStyle/>
          <a:p>
            <a:r>
              <a:rPr lang="en-US" dirty="0"/>
              <a:t>Distribution of Age &amp; BMI</a:t>
            </a:r>
          </a:p>
        </p:txBody>
      </p:sp>
      <p:pic>
        <p:nvPicPr>
          <p:cNvPr id="6" name="Content Placeholder 5" descr="A graph of a graph with blue lines&#10;&#10;Description automatically generated with medium confidence">
            <a:extLst>
              <a:ext uri="{FF2B5EF4-FFF2-40B4-BE49-F238E27FC236}">
                <a16:creationId xmlns:a16="http://schemas.microsoft.com/office/drawing/2014/main" id="{80444C58-95E7-C2B2-BB0E-39C33DBAD601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838200" y="2122964"/>
            <a:ext cx="4705350" cy="3411379"/>
          </a:xfrm>
          <a:noFill/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45C2DC7-9F2C-06CE-D584-52826512BAD1}"/>
              </a:ext>
            </a:extLst>
          </p:cNvPr>
          <p:cNvSpPr txBox="1"/>
          <p:nvPr/>
        </p:nvSpPr>
        <p:spPr>
          <a:xfrm>
            <a:off x="1619250" y="5534343"/>
            <a:ext cx="5181600" cy="58808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defTabSz="685783">
              <a:spcBef>
                <a:spcPts val="750"/>
              </a:spcBef>
            </a:pPr>
            <a:r>
              <a:rPr lang="en-US" sz="2100" kern="1200" dirty="0"/>
              <a:t>Average Age: 49.86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A48C20-B6D5-A3E3-76E7-20286713B9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827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B8F8C4-05A7-DC4E-8BB7-4202EC4ACBF7}" type="slidenum">
              <a:rPr lang="en-US" smtClean="0"/>
              <a:pPr>
                <a:spcAft>
                  <a:spcPts val="600"/>
                </a:spcAft>
              </a:pPr>
              <a:t>5</a:t>
            </a:fld>
            <a:endParaRPr lang="en-US"/>
          </a:p>
        </p:txBody>
      </p:sp>
      <p:pic>
        <p:nvPicPr>
          <p:cNvPr id="9" name="Picture 8" descr="A graph with blue lines&#10;&#10;Description automatically generated">
            <a:extLst>
              <a:ext uri="{FF2B5EF4-FFF2-40B4-BE49-F238E27FC236}">
                <a16:creationId xmlns:a16="http://schemas.microsoft.com/office/drawing/2014/main" id="{61DACEB1-0E47-7A5F-A8DB-D8211C280B4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3352" y="2097168"/>
            <a:ext cx="4705350" cy="3467100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85514E0B-D730-D79E-EE2E-0DFC84D5023A}"/>
              </a:ext>
            </a:extLst>
          </p:cNvPr>
          <p:cNvSpPr txBox="1"/>
          <p:nvPr/>
        </p:nvSpPr>
        <p:spPr>
          <a:xfrm>
            <a:off x="7193590" y="5534343"/>
            <a:ext cx="2632387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100" dirty="0"/>
              <a:t>Average BMI: 26.73 </a:t>
            </a:r>
          </a:p>
        </p:txBody>
      </p:sp>
    </p:spTree>
    <p:extLst>
      <p:ext uri="{BB962C8B-B14F-4D97-AF65-F5344CB8AC3E}">
        <p14:creationId xmlns:p14="http://schemas.microsoft.com/office/powerpoint/2010/main" val="29984319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DAD8D-5828-5DC3-6DAB-75077CAD76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Distribution of Height and Weight</a:t>
            </a:r>
          </a:p>
        </p:txBody>
      </p:sp>
      <p:pic>
        <p:nvPicPr>
          <p:cNvPr id="6" name="Content Placeholder 5" descr="A graph of a graph&#10;&#10;Description automatically generated with medium confidence">
            <a:extLst>
              <a:ext uri="{FF2B5EF4-FFF2-40B4-BE49-F238E27FC236}">
                <a16:creationId xmlns:a16="http://schemas.microsoft.com/office/drawing/2014/main" id="{9CF84342-1F20-618A-5A6B-F88E3C1F40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775309" y="1690692"/>
            <a:ext cx="4854325" cy="3555923"/>
          </a:xfr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FCFA2B8-DEC7-43C2-73F9-17A586A448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6</a:t>
            </a:fld>
            <a:endParaRPr lang="en-US"/>
          </a:p>
        </p:txBody>
      </p:sp>
      <p:pic>
        <p:nvPicPr>
          <p:cNvPr id="8" name="Picture 7" descr="A graph of a weight loss&#10;&#10;Description automatically generated with medium confidence">
            <a:extLst>
              <a:ext uri="{FF2B5EF4-FFF2-40B4-BE49-F238E27FC236}">
                <a16:creationId xmlns:a16="http://schemas.microsoft.com/office/drawing/2014/main" id="{98BE996E-53C1-9219-9447-C207D9AC3F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1690692"/>
            <a:ext cx="4854325" cy="352036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FFCDC3FF-0A40-A9D1-1673-1805DFD1FE26}"/>
              </a:ext>
            </a:extLst>
          </p:cNvPr>
          <p:cNvSpPr txBox="1"/>
          <p:nvPr/>
        </p:nvSpPr>
        <p:spPr>
          <a:xfrm>
            <a:off x="1295400" y="5467350"/>
            <a:ext cx="373916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Average Height: 174.75 </a:t>
            </a:r>
            <a:r>
              <a:rPr lang="en-US" dirty="0" err="1"/>
              <a:t>cms</a:t>
            </a:r>
            <a:r>
              <a:rPr lang="en-US" dirty="0"/>
              <a:t>, ~5’8”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860505F-6431-F834-19AF-87AEF5E75FC2}"/>
              </a:ext>
            </a:extLst>
          </p:cNvPr>
          <p:cNvSpPr txBox="1"/>
          <p:nvPr/>
        </p:nvSpPr>
        <p:spPr>
          <a:xfrm>
            <a:off x="6642657" y="5467350"/>
            <a:ext cx="39358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Average Weight: 49.86 kgs, ~110 </a:t>
            </a:r>
            <a:r>
              <a:rPr lang="en-US" dirty="0" err="1"/>
              <a:t>lbs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60588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346426F7-A241-A4DC-06C2-5660253DA4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1325563"/>
          </a:xfrm>
        </p:spPr>
        <p:txBody>
          <a:bodyPr/>
          <a:lstStyle/>
          <a:p>
            <a:r>
              <a:rPr lang="en-US" dirty="0"/>
              <a:t>Correlation Heatmap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CE7E7E52-FBD9-9DBB-80DA-5CD2D680E3F0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rcRect l="8308" r="2" b="2"/>
          <a:stretch/>
        </p:blipFill>
        <p:spPr>
          <a:xfrm>
            <a:off x="838200" y="1825625"/>
            <a:ext cx="5181600" cy="4351338"/>
          </a:xfrm>
          <a:noFill/>
        </p:spPr>
      </p:pic>
      <p:sp>
        <p:nvSpPr>
          <p:cNvPr id="13" name="Content Placeholder 3">
            <a:extLst>
              <a:ext uri="{FF2B5EF4-FFF2-40B4-BE49-F238E27FC236}">
                <a16:creationId xmlns:a16="http://schemas.microsoft.com/office/drawing/2014/main" id="{8A5689FD-86B0-E517-20CC-98A79F7DFB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r>
              <a:rPr lang="en-US" dirty="0"/>
              <a:t>Very little correlation throughout the dataset.</a:t>
            </a:r>
          </a:p>
          <a:p>
            <a:r>
              <a:rPr lang="en-US" dirty="0"/>
              <a:t>Highest correlation: .072 between hours of sleep and heart rate.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4A178F-EA74-3285-75B2-53032BF7A8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428272"/>
            <a:ext cx="2743200" cy="365125"/>
          </a:xfrm>
        </p:spPr>
        <p:txBody>
          <a:bodyPr anchor="ctr">
            <a:normAutofit/>
          </a:bodyPr>
          <a:lstStyle/>
          <a:p>
            <a:pPr>
              <a:spcAft>
                <a:spcPts val="600"/>
              </a:spcAft>
            </a:pPr>
            <a:fld id="{09B8F8C4-05A7-DC4E-8BB7-4202EC4ACBF7}" type="slidenum">
              <a:rPr lang="en-US" smtClean="0"/>
              <a:pPr>
                <a:spcAft>
                  <a:spcPts val="600"/>
                </a:spcAft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829322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A8D820-8943-E9B8-200F-1B1EA6FC27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Heart Disease Distributions</a:t>
            </a:r>
          </a:p>
        </p:txBody>
      </p:sp>
      <p:pic>
        <p:nvPicPr>
          <p:cNvPr id="7" name="Content Placeholder 6" descr="A graph with blue and orange bars&#10;&#10;Description automatically generated">
            <a:extLst>
              <a:ext uri="{FF2B5EF4-FFF2-40B4-BE49-F238E27FC236}">
                <a16:creationId xmlns:a16="http://schemas.microsoft.com/office/drawing/2014/main" id="{62B8A341-B81B-9C6F-F609-21B11CD6CFEA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533400" y="2280746"/>
            <a:ext cx="5181600" cy="3508943"/>
          </a:xfrm>
        </p:spPr>
      </p:pic>
      <p:pic>
        <p:nvPicPr>
          <p:cNvPr id="9" name="Content Placeholder 8" descr="A graph of a number of squares&#10;&#10;Description automatically generated with medium confidence">
            <a:extLst>
              <a:ext uri="{FF2B5EF4-FFF2-40B4-BE49-F238E27FC236}">
                <a16:creationId xmlns:a16="http://schemas.microsoft.com/office/drawing/2014/main" id="{601DE294-8DAB-18FC-92D2-D46FE53FFE8D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019800" y="2130463"/>
            <a:ext cx="5181600" cy="3362282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32C056-17C7-8BDA-31A2-0676A304FC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39421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BD684-1F2F-F68E-F0E6-67678644B0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Regression: BMI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922F4E-2218-85B7-84E6-C3694BAA3BF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3130000"/>
            <a:ext cx="5181600" cy="1325563"/>
          </a:xfrm>
        </p:spPr>
        <p:txBody>
          <a:bodyPr/>
          <a:lstStyle/>
          <a:p>
            <a:r>
              <a:rPr lang="en-US" b="1" dirty="0"/>
              <a:t>BMI Formula: </a:t>
            </a:r>
          </a:p>
          <a:p>
            <a:pPr marL="0" indent="0">
              <a:buNone/>
            </a:pPr>
            <a:r>
              <a:rPr lang="en-US" dirty="0"/>
              <a:t>BMI=  </a:t>
            </a:r>
            <a:r>
              <a:rPr lang="en-US" u="sng" dirty="0"/>
              <a:t>Weight (kgs)</a:t>
            </a:r>
          </a:p>
          <a:p>
            <a:pPr marL="0" indent="0">
              <a:buNone/>
            </a:pPr>
            <a:r>
              <a:rPr lang="en-US" dirty="0"/>
              <a:t>        Height(meters)^2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54D51A-3BC5-6B45-123B-9FC6640AAB4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US" dirty="0"/>
              <a:t>Creating two models would show how the absence and presence of height and weight would effect these.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Would either model be close to the formula in accuracy?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FDD8FF-D76B-282B-A81B-DB283508B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9</a:t>
            </a:fld>
            <a:endParaRPr lang="en-US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37143B0-CBF6-696A-7961-C79D6B05D18F}"/>
              </a:ext>
            </a:extLst>
          </p:cNvPr>
          <p:cNvSpPr txBox="1">
            <a:spLocks/>
          </p:cNvSpPr>
          <p:nvPr/>
        </p:nvSpPr>
        <p:spPr>
          <a:xfrm>
            <a:off x="838200" y="4455563"/>
            <a:ext cx="5181600" cy="27347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71446" indent="-171446" algn="l" defTabSz="685783" rtl="0" eaLnBrk="1" latinLnBrk="0" hangingPunct="1">
              <a:lnSpc>
                <a:spcPct val="90000"/>
              </a:lnSpc>
              <a:spcBef>
                <a:spcPts val="750"/>
              </a:spcBef>
              <a:buFont typeface="Arial" panose="020B0604020202020204" pitchFamily="34" charset="0"/>
              <a:buChar char="•"/>
              <a:defRPr sz="21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51433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857228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50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1200120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1543012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1885903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228795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571686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914577" indent="-171446" algn="l" defTabSz="685783" rtl="0" eaLnBrk="1" latinLnBrk="0" hangingPunct="1">
              <a:lnSpc>
                <a:spcPct val="90000"/>
              </a:lnSpc>
              <a:spcBef>
                <a:spcPts val="375"/>
              </a:spcBef>
              <a:buFont typeface="Arial" panose="020B0604020202020204" pitchFamily="34" charset="0"/>
              <a:buChar char="•"/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Height and weight were given within the dataset.  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6FAAD7E-3F32-0B32-CFA1-8E696F191056}"/>
              </a:ext>
            </a:extLst>
          </p:cNvPr>
          <p:cNvSpPr txBox="1"/>
          <p:nvPr/>
        </p:nvSpPr>
        <p:spPr>
          <a:xfrm>
            <a:off x="838200" y="1825625"/>
            <a:ext cx="5181600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100" b="1" dirty="0"/>
              <a:t>Goal:</a:t>
            </a:r>
            <a:r>
              <a:rPr lang="en-US" sz="2100" dirty="0"/>
              <a:t> Predict BMI through the variables given in the dataset using linear regression.</a:t>
            </a:r>
          </a:p>
        </p:txBody>
      </p:sp>
    </p:spTree>
    <p:extLst>
      <p:ext uri="{BB962C8B-B14F-4D97-AF65-F5344CB8AC3E}">
        <p14:creationId xmlns:p14="http://schemas.microsoft.com/office/powerpoint/2010/main" val="398427291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0296B0-A4B1-A7F2-7286-0306D0F24B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Regression: Model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CAC4FE-E721-CDF6-CC90-C74807A50B9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Linear Model 1: Using many variables</a:t>
            </a:r>
          </a:p>
          <a:p>
            <a:r>
              <a:rPr lang="en-US" dirty="0"/>
              <a:t>Variables: Smoker, Hours of Sleep, Exercise hours per week, Heart rate, Age, Caloric intake, Daily steps, Alcohol consumption per week, Heart Disease, Gender, Diabetic. </a:t>
            </a:r>
          </a:p>
          <a:p>
            <a:pPr marL="0" indent="0">
              <a:buNone/>
            </a:pPr>
            <a:r>
              <a:rPr lang="en-US" b="1" dirty="0"/>
              <a:t>Metrics:</a:t>
            </a:r>
          </a:p>
          <a:p>
            <a:r>
              <a:rPr lang="en-US" dirty="0"/>
              <a:t>Mean absolute error: 4.12</a:t>
            </a:r>
          </a:p>
          <a:p>
            <a:r>
              <a:rPr lang="en-US" dirty="0"/>
              <a:t>Mean squared error: 23.06</a:t>
            </a:r>
          </a:p>
          <a:p>
            <a:r>
              <a:rPr lang="en-US" dirty="0"/>
              <a:t>R^2: .005739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832F54E-F9DF-A19F-1578-8AA1E3F65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10</a:t>
            </a:fld>
            <a:endParaRPr lang="en-US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5926A2D4-CB50-DB67-543E-6F67A2D661E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19800" y="1690692"/>
            <a:ext cx="5858882" cy="3448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4937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BFFBEE-8F05-7044-988B-92F2AF6ED2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Regression: Model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480A7-FA4D-E842-2C84-C4ACD527A88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Linear Model 2: Using Height &amp; Weight</a:t>
            </a:r>
          </a:p>
          <a:p>
            <a:r>
              <a:rPr lang="en-US" dirty="0"/>
              <a:t>Variables: Height (cm), weight (kg)</a:t>
            </a:r>
          </a:p>
          <a:p>
            <a:pPr marL="0" indent="0">
              <a:buNone/>
            </a:pPr>
            <a:r>
              <a:rPr lang="en-US" b="1" dirty="0"/>
              <a:t>Metrics:</a:t>
            </a:r>
          </a:p>
          <a:p>
            <a:r>
              <a:rPr lang="en-US" dirty="0"/>
              <a:t>Mean absolute error: 4.21</a:t>
            </a:r>
          </a:p>
          <a:p>
            <a:r>
              <a:rPr lang="en-US" dirty="0"/>
              <a:t>Mean squared error: 22.61</a:t>
            </a:r>
          </a:p>
          <a:p>
            <a:r>
              <a:rPr lang="en-US" dirty="0"/>
              <a:t>R^2: .004915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D01D6-7781-DC5F-285E-C5E28E5359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11</a:t>
            </a:fld>
            <a:endParaRPr lang="en-US"/>
          </a:p>
        </p:txBody>
      </p:sp>
      <p:pic>
        <p:nvPicPr>
          <p:cNvPr id="7" name="Picture 6" descr="A close-up of a number&#10;&#10;Description automatically generated">
            <a:extLst>
              <a:ext uri="{FF2B5EF4-FFF2-40B4-BE49-F238E27FC236}">
                <a16:creationId xmlns:a16="http://schemas.microsoft.com/office/drawing/2014/main" id="{8281BAC0-51DA-F733-17A7-60619465C0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0002" y="2675730"/>
            <a:ext cx="6431998" cy="1325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998235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0591D9-EC74-51BE-B6E8-1236E3A81D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Linear Regression: Two Model Evaluation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C4B851E-4FF9-4BBE-B479-45B7206D97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19850" y="1690692"/>
            <a:ext cx="5181600" cy="4351338"/>
          </a:xfrm>
        </p:spPr>
        <p:txBody>
          <a:bodyPr/>
          <a:lstStyle/>
          <a:p>
            <a:r>
              <a:rPr lang="en-US" dirty="0"/>
              <a:t>Mean absolute error, mean squared error, and R^2 values didn’t point towards the models predicting well. </a:t>
            </a:r>
          </a:p>
          <a:p>
            <a:r>
              <a:rPr lang="en-US" dirty="0"/>
              <a:t>Why is this? 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C78D45-1F21-17D7-2282-0F1F74A5FDC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8200" y="1690692"/>
            <a:ext cx="5181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Predicting BMI using Model 1:</a:t>
            </a:r>
          </a:p>
          <a:p>
            <a:r>
              <a:rPr lang="en-US" dirty="0"/>
              <a:t>25-year-old man, 10,000 daily steps, 2500 calories, 8 hours of sleep, 60 resting heart rate, 5 </a:t>
            </a:r>
            <a:r>
              <a:rPr lang="en-US" dirty="0" err="1"/>
              <a:t>hrs</a:t>
            </a:r>
            <a:r>
              <a:rPr lang="en-US" dirty="0"/>
              <a:t> of exercise, 5 drinks/week, no smoking, no heart disease, non diabetic.</a:t>
            </a:r>
          </a:p>
          <a:p>
            <a:r>
              <a:rPr lang="en-US" dirty="0"/>
              <a:t>Outcome: 26.43</a:t>
            </a:r>
          </a:p>
          <a:p>
            <a:pPr marL="0" indent="0">
              <a:buNone/>
            </a:pPr>
            <a:r>
              <a:rPr lang="en-US" b="1" dirty="0"/>
              <a:t>Predicting BMI using Model 2: </a:t>
            </a:r>
          </a:p>
          <a:p>
            <a:r>
              <a:rPr lang="en-US" dirty="0"/>
              <a:t>180 cm tall, 70 kgs.</a:t>
            </a:r>
          </a:p>
          <a:p>
            <a:r>
              <a:rPr lang="en-US" dirty="0"/>
              <a:t>Outcome: 30.05</a:t>
            </a:r>
          </a:p>
          <a:p>
            <a:r>
              <a:rPr lang="en-US" dirty="0"/>
              <a:t>Actual: 21.6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C005E6D-FD01-00CB-3324-B600077C9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80611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BF8A39-B071-B00C-E8D4-D585FA663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Regression: Model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04B768-D956-BB11-5B75-59545E26B7B5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b="1" dirty="0"/>
              <a:t>Goal: </a:t>
            </a:r>
            <a:r>
              <a:rPr lang="en-US" dirty="0"/>
              <a:t>Predict whether an individual has heart disease or not.</a:t>
            </a:r>
          </a:p>
          <a:p>
            <a:endParaRPr lang="en-US" dirty="0"/>
          </a:p>
          <a:p>
            <a:r>
              <a:rPr lang="en-US" dirty="0"/>
              <a:t>Variables used: all except for ID # and blood pressure.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592135-4CDD-0347-A021-6C213FD0F07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Result of logistic regression model: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5287E2-F30A-00D7-76D8-04B836D59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13</a:t>
            </a:fld>
            <a:endParaRPr lang="en-US"/>
          </a:p>
        </p:txBody>
      </p:sp>
      <p:pic>
        <p:nvPicPr>
          <p:cNvPr id="7" name="Picture 6" descr="A screenshot of a graph&#10;&#10;Description automatically generated">
            <a:extLst>
              <a:ext uri="{FF2B5EF4-FFF2-40B4-BE49-F238E27FC236}">
                <a16:creationId xmlns:a16="http://schemas.microsoft.com/office/drawing/2014/main" id="{D891F11F-6733-EF38-2D76-06FE90B02D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69000" y="2420144"/>
            <a:ext cx="5588000" cy="3162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356647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E2F3963-2245-273F-7850-1D310C580E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Logistic Regression: SMOTE Method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C6FFBA-AED8-800C-3A1F-2B8236FBD65E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US" dirty="0"/>
              <a:t>Synthetic Minority Oversampling Technique (SMOTE).</a:t>
            </a:r>
          </a:p>
          <a:p>
            <a:r>
              <a:rPr lang="en-US" dirty="0"/>
              <a:t>Used for an unbalanced dataset. Two observations, with one being the majority.</a:t>
            </a:r>
          </a:p>
          <a:p>
            <a:r>
              <a:rPr lang="en-US" dirty="0"/>
              <a:t>The first model was accurate in predicting negative results, but inaccurate in predicting positive results. </a:t>
            </a:r>
          </a:p>
        </p:txBody>
      </p:sp>
      <p:pic>
        <p:nvPicPr>
          <p:cNvPr id="7" name="Content Placeholder 6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11FFFF85-8F95-E73F-9DC2-B1971F3FF91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6438900" y="1690692"/>
            <a:ext cx="5181600" cy="2924725"/>
          </a:xfr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5ADFCCF-09A0-F377-BD1B-42D532475F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6260461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1C64A-F7E7-E315-9E24-F86FB2CB2A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Future Analysis: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1A77B91-AE1D-EC1E-2989-BFC0623605BA}"/>
              </a:ext>
            </a:extLst>
          </p:cNvPr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Linear Regression</a:t>
            </a:r>
          </a:p>
          <a:p>
            <a:r>
              <a:rPr lang="en-US" dirty="0"/>
              <a:t>Find a model which can accurately predict BMI</a:t>
            </a:r>
          </a:p>
          <a:p>
            <a:r>
              <a:rPr lang="en-US" dirty="0"/>
              <a:t>Create a calculator using height and weight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EC1F0CE-EE82-EAD2-96B6-75E89A2FB8EE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u="sng" dirty="0"/>
              <a:t>Logistic Regression</a:t>
            </a:r>
          </a:p>
          <a:p>
            <a:r>
              <a:rPr lang="en-US" dirty="0"/>
              <a:t>Look into other resampling techniques, some may be more accurate.  </a:t>
            </a:r>
          </a:p>
          <a:p>
            <a:r>
              <a:rPr lang="en-US" dirty="0"/>
              <a:t>Find out how to increase the accuracy of the SMOTE model. Although the second model found positive results, the accuracy had dropped.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2BC8C6-EA14-9843-4FDB-2D90746FB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99217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58DD90-1DD0-D850-D810-81960C2439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Conclusions: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CF9173-8879-7C20-A0FA-75939D51A88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10039350" cy="4351338"/>
          </a:xfrm>
        </p:spPr>
        <p:txBody>
          <a:bodyPr/>
          <a:lstStyle/>
          <a:p>
            <a:r>
              <a:rPr lang="en-US" dirty="0"/>
              <a:t>Overall, I would consider this project a success.</a:t>
            </a:r>
          </a:p>
          <a:p>
            <a:r>
              <a:rPr lang="en-US" dirty="0"/>
              <a:t>I was unable to find a model for BMI, but my work pushed me in the direction of a viable solution. </a:t>
            </a:r>
          </a:p>
          <a:p>
            <a:r>
              <a:rPr lang="en-US" dirty="0"/>
              <a:t>There could be a better regression model to predict BMI without using height and weight. </a:t>
            </a:r>
          </a:p>
          <a:p>
            <a:r>
              <a:rPr lang="en-US" dirty="0"/>
              <a:t>More research needs to be done on logistic regression. There may be a better model out there. 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A8AF6-43B2-34E8-E50F-C9B22FB187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4804615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6DADEA-345A-E507-69FE-A1F97F3965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9"/>
            <a:ext cx="10515600" cy="5167570"/>
          </a:xfrm>
        </p:spPr>
        <p:txBody>
          <a:bodyPr/>
          <a:lstStyle/>
          <a:p>
            <a:r>
              <a:rPr lang="en-US" dirty="0"/>
              <a:t>Thank You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39AB6A8-EF17-C54C-476E-633A397E76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8F8C4-05A7-DC4E-8BB7-4202EC4ACBF7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44564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ellarmine Palett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752836"/>
      </a:accent1>
      <a:accent2>
        <a:srgbClr val="697970"/>
      </a:accent2>
      <a:accent3>
        <a:srgbClr val="C8C8C8"/>
      </a:accent3>
      <a:accent4>
        <a:srgbClr val="F7BE00"/>
      </a:accent4>
      <a:accent5>
        <a:srgbClr val="00677F"/>
      </a:accent5>
      <a:accent6>
        <a:srgbClr val="4D4D4D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andard Screen Bellarmine Template" id="{109F2BBD-B805-0C47-8BE1-EE5FD54F39DA}" vid="{7B5311A2-F663-764E-9F9C-04F6C47E4FF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3612</TotalTime>
  <Words>765</Words>
  <Application>Microsoft Macintosh PowerPoint</Application>
  <PresentationFormat>Widescreen</PresentationFormat>
  <Paragraphs>105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BMI &amp; Heart Disease</vt:lpstr>
      <vt:lpstr>Introduction</vt:lpstr>
      <vt:lpstr>Research Questions</vt:lpstr>
      <vt:lpstr>About the Dataset:</vt:lpstr>
      <vt:lpstr>Distribution of Age &amp; BMI</vt:lpstr>
      <vt:lpstr>Distribution of Height and Weight</vt:lpstr>
      <vt:lpstr>Correlation Heatmap</vt:lpstr>
      <vt:lpstr>Heart Disease Distributions</vt:lpstr>
      <vt:lpstr>Linear Regression: BMI</vt:lpstr>
      <vt:lpstr>Linear Regression: Model 1</vt:lpstr>
      <vt:lpstr>Linear Regression: Model 2</vt:lpstr>
      <vt:lpstr>Linear Regression: Two Model Evaluation</vt:lpstr>
      <vt:lpstr>Logistic Regression: Model 1</vt:lpstr>
      <vt:lpstr>Logistic Regression: SMOTE Method</vt:lpstr>
      <vt:lpstr>Future Analysis:</vt:lpstr>
      <vt:lpstr>Conclusions: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Katie Kelty</dc:creator>
  <cp:lastModifiedBy>William Muckler</cp:lastModifiedBy>
  <cp:revision>15</cp:revision>
  <dcterms:created xsi:type="dcterms:W3CDTF">2020-08-18T13:57:38Z</dcterms:created>
  <dcterms:modified xsi:type="dcterms:W3CDTF">2025-05-01T01:12:32Z</dcterms:modified>
</cp:coreProperties>
</file>